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694"/>
  </p:normalViewPr>
  <p:slideViewPr>
    <p:cSldViewPr snapToGrid="0">
      <p:cViewPr varScale="1">
        <p:scale>
          <a:sx n="109" d="100"/>
          <a:sy n="109" d="100"/>
        </p:scale>
        <p:origin x="21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60255-EB07-47AE-AC67-B0FF9A03623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B413A4-15E8-40B9-9E55-6B41A2A0CF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637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10E0-67E5-C276-2F40-4F3B456D7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F1302-C662-5A0B-6C4D-BD373D727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6F289-6676-47AF-935E-C9767E6C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1E7E5-D2BB-313A-6695-75C18BFA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5C26D-D8EC-C37B-836C-916AD2DD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703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144B-572F-3A11-D672-E1BAA2C8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E6F8E-25F3-9F10-397D-417EDECBB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E8592-32C5-5563-E7F5-76AFE58F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AC27F-709B-70D1-608C-9B8861F9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B799B-667E-49EE-E856-BEB30FAE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06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796A9-496D-93D5-446F-FCBD6B2C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40372-37DB-8152-2204-12A37CE6C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FB01C-BE1C-731B-97B0-5A0E36355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3563C-0109-4398-D5D6-E302C3982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886D-CBC7-0CA4-B3F5-329450EC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5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9EDC-E8EE-0361-B229-1B86AB25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66413-F34B-5411-4F56-84FA53B7A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07367-5B47-2F7C-04E8-745A20BDE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6874A-3335-4E89-347C-59BD3865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2C275-882B-BE92-03B3-9DD839441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54A40-9CD3-7D4D-47E1-99AD966F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1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6C3DC-B9FF-087F-2FAC-16742282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912D3-0B09-3138-08BB-6E39F2D0C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8F999-7C0F-85F0-E052-C11ECDE46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91668-EA04-C505-D5A8-BE0312B1D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1D9DE-A009-C79E-012C-EBC1591B3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098AB-BB79-5C5F-155F-DBB94150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1E221-5AD9-C5B2-FAEC-B040ECE7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001AF-D48E-6F86-CD83-8AE1E030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20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20AE3-50BE-E67A-16AA-40B3F8F26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B29324-B6E7-7454-8CC4-AEBC7D677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5BAE5-927D-1D25-5331-80C6C1518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9B882-4B7B-7724-5485-61D785A43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146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1060F-5A2A-140B-996D-979D95B12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B4840-1578-99F2-9866-9FFD1965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EFF68-2E07-1A05-EC7E-F1BF58E2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3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70E02-B2EB-B7C9-656D-0269EFD3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63BCC-1AFF-AD19-0D2A-C8A59283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1C211-C359-C178-7968-7190100CE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2BDFB-B024-EE14-EE38-04EBCAA93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99C22-CF7D-B699-3CA0-8AC53223F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F0121-1C64-139B-F04F-B32C4424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70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7497-11FF-E367-9863-2AA2083AF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411F2-3293-4DDB-CC4A-355C590C55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30F1E-3FBE-7C07-7C7D-187D6F89A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77CC5-3981-8A7A-32C5-CA9072468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E906-C9BA-C918-0C9E-204EB95B1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DB9B9-9349-C42F-9975-510A6FD73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569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2325-2869-9FD1-271C-1B953B9D0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F9BF3-F25E-0908-D19D-62552F10D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6B79-B28A-1B7B-84AD-207BA5D87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A2A61-78C1-51A5-A677-3EDB9ABC0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DD68A-918E-3E1E-9E8B-A2363027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517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9848EA-AD96-125F-A344-91E1DEBCEE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9F2D8-3D54-632F-8B3E-5FF32691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F28F1-A6E8-CF8E-ED24-16799812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9FDB3-B5DB-4A95-3F8E-D592CFAC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C95DB-76CA-4818-54EC-B5E1BFBE6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27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8E5B4A-C692-89CA-B342-61234CB35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4104D-4A03-497B-A3DF-FB093DA76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9F7A1-11CE-F5B3-FBCD-90D1C9112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6C411-4457-4FFB-BDBA-CEEA25D16A8D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E6796-21F6-ADE4-F2EA-26D533A37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039EE-A77C-8FC2-6F49-1553A72B6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69457-CD13-44F0-B99C-F8CC4641E3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119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C7230-3382-19FB-4AE3-56E6CE639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8024" y="1329343"/>
            <a:ext cx="8815952" cy="2387600"/>
          </a:xfrm>
        </p:spPr>
        <p:txBody>
          <a:bodyPr/>
          <a:lstStyle/>
          <a:p>
            <a:r>
              <a:rPr lang="en-US" dirty="0"/>
              <a:t>Company Overview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DCA4E-9CF5-3605-1713-392E30B7C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4448" y="4215667"/>
            <a:ext cx="8183104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Prepared for Bicycle Association | January 2026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26548D-FD8A-27AA-8721-DDC628FB0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53"/>
            <a:ext cx="2667000" cy="834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4C8ABD-C215-F39F-9027-A8052787D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22" y="-3655"/>
            <a:ext cx="9533978" cy="8342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4C7252-10B2-E98A-D74A-41AA199CD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3723"/>
            <a:ext cx="12192000" cy="8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85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1B783-C7CA-346A-E15F-3DDF0CD1C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A6633B5-AF37-5434-ED52-C30436DDBF16}"/>
              </a:ext>
            </a:extLst>
          </p:cNvPr>
          <p:cNvSpPr txBox="1"/>
          <p:nvPr/>
        </p:nvSpPr>
        <p:spPr>
          <a:xfrm>
            <a:off x="476352" y="1043731"/>
            <a:ext cx="11044014" cy="47705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Who we are</a:t>
            </a:r>
            <a:r>
              <a:rPr lang="en-US" dirty="0"/>
              <a:t>​</a:t>
            </a:r>
            <a:endParaRPr lang="en-GB" sz="2000" b="1" dirty="0"/>
          </a:p>
          <a:p>
            <a:endParaRPr lang="en-GB" sz="2000" dirty="0"/>
          </a:p>
          <a:p>
            <a:r>
              <a:rPr lang="en-GB" dirty="0"/>
              <a:t>Crozier Scott ltd; a CTO-level data and analytics &amp; AI consultancy​</a:t>
            </a:r>
          </a:p>
          <a:p>
            <a:r>
              <a:rPr lang="en-GB" sz="1400" dirty="0"/>
              <a:t>​</a:t>
            </a:r>
          </a:p>
          <a:p>
            <a:r>
              <a:rPr lang="en-GB" sz="1600" dirty="0"/>
              <a:t>Experience that matters:​</a:t>
            </a:r>
          </a:p>
          <a:p>
            <a:endParaRPr lang="en-GB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30+ years of technology leadership (CIO / CTO, Chief Digital Officer, Digital Director)​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10 years building data platforms in AWS and Snowflake​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6 years working with dbt​</a:t>
            </a:r>
          </a:p>
          <a:p>
            <a:endParaRPr lang="en-GB" sz="1400" dirty="0"/>
          </a:p>
          <a:p>
            <a:r>
              <a:rPr lang="en-GB" sz="1600" i="1" dirty="0"/>
              <a:t>We've seen what works, what doesn't, and what scales​</a:t>
            </a:r>
          </a:p>
          <a:p>
            <a:r>
              <a:rPr lang="en-GB" sz="1400" dirty="0"/>
              <a:t>​</a:t>
            </a:r>
          </a:p>
          <a:p>
            <a:endParaRPr lang="en-GB" sz="1400" dirty="0"/>
          </a:p>
          <a:p>
            <a:r>
              <a:rPr lang="en-GB" b="1" dirty="0"/>
              <a:t>What we do</a:t>
            </a:r>
          </a:p>
          <a:p>
            <a:endParaRPr lang="en-GB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Help organisations turn strong data foundations into insight-driven products​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Bridge strategic vision with hands-on platform delivery​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Senior people, practical delivery — no juniors learning on your project​</a:t>
            </a:r>
          </a:p>
          <a:p>
            <a:r>
              <a:rPr lang="en-GB" sz="1400" dirty="0"/>
              <a:t>​</a:t>
            </a:r>
          </a:p>
          <a:p>
            <a:r>
              <a:rPr lang="en-GB" sz="1600" i="1" dirty="0"/>
              <a:t>We turn data into decisions and data products into competitive advantage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629BB7-A721-9105-CC6E-ED83FE92D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53"/>
            <a:ext cx="2667000" cy="834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217958-4CD1-53EA-764E-2FF6C510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22" y="-3655"/>
            <a:ext cx="9533978" cy="8342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5488045-DD02-FBD2-6B20-322F660E3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3723"/>
            <a:ext cx="12192000" cy="8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56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6423-BB9C-3B97-1FCF-9B5A1FD8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47142B1-055D-B494-F210-8711CCCAEACC}"/>
              </a:ext>
            </a:extLst>
          </p:cNvPr>
          <p:cNvSpPr txBox="1"/>
          <p:nvPr/>
        </p:nvSpPr>
        <p:spPr>
          <a:xfrm>
            <a:off x="573993" y="1365984"/>
            <a:ext cx="11044014" cy="32624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Why we're a good fit</a:t>
            </a:r>
          </a:p>
          <a:p>
            <a:endParaRPr lang="en-GB" sz="2000" dirty="0"/>
          </a:p>
          <a:p>
            <a:r>
              <a:rPr lang="en-GB" dirty="0"/>
              <a:t>Stack alignment​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Deep expertise in Snowflake, dbt, AWS, Power BI, Tableau and various cloud native / open-source data integration tools​</a:t>
            </a:r>
          </a:p>
          <a:p>
            <a:r>
              <a:rPr lang="en-GB" sz="1400" dirty="0"/>
              <a:t>​</a:t>
            </a:r>
          </a:p>
          <a:p>
            <a:r>
              <a:rPr lang="en-GB" dirty="0"/>
              <a:t>Stage alignment</a:t>
            </a:r>
            <a:r>
              <a:rPr lang="en-GB" sz="1400" dirty="0"/>
              <a:t>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You've built the foundation; the next challenge is scale, insight, and reach​</a:t>
            </a:r>
          </a:p>
          <a:p>
            <a:r>
              <a:rPr lang="en-GB" sz="1400" dirty="0"/>
              <a:t>​</a:t>
            </a:r>
          </a:p>
          <a:p>
            <a:r>
              <a:rPr lang="en-GB" dirty="0"/>
              <a:t>Model alignment</a:t>
            </a:r>
            <a:r>
              <a:rPr lang="en-GB" sz="1400" dirty="0"/>
              <a:t>​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Comfortable working alongside other suppliers, adding capability without disruption​</a:t>
            </a:r>
          </a:p>
          <a:p>
            <a:r>
              <a:rPr lang="en-GB" sz="1400" dirty="0"/>
              <a:t>​</a:t>
            </a:r>
          </a:p>
          <a:p>
            <a:endParaRPr lang="en-GB" sz="1400" dirty="0"/>
          </a:p>
          <a:p>
            <a:r>
              <a:rPr lang="en-GB" sz="1600" i="1" dirty="0"/>
              <a:t>We deliver outcomes, not just technical tasks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6258C6-CEFB-1001-1BD9-C47A0CFA7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53"/>
            <a:ext cx="2667000" cy="834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75BF1B-8D8C-B534-1C60-65314F26F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22" y="-3655"/>
            <a:ext cx="9533978" cy="8342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632A7FB-283F-67DE-E875-37EC73CCA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3723"/>
            <a:ext cx="12192000" cy="8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83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0FC0-D8D6-D7D1-7772-FD592C77E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1FA360-4B39-F2B4-2420-E7BDC0CCBBA9}"/>
              </a:ext>
            </a:extLst>
          </p:cNvPr>
          <p:cNvSpPr txBox="1"/>
          <p:nvPr/>
        </p:nvSpPr>
        <p:spPr>
          <a:xfrm>
            <a:off x="573993" y="1425469"/>
            <a:ext cx="11044014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What we do - Data analytics focus</a:t>
            </a:r>
            <a:r>
              <a:rPr lang="en-US" dirty="0"/>
              <a:t>​​</a:t>
            </a:r>
            <a:endParaRPr lang="en-GB" sz="2000" b="1" dirty="0"/>
          </a:p>
          <a:p>
            <a:endParaRPr lang="en-GB" sz="2000" dirty="0"/>
          </a:p>
          <a:p>
            <a:pPr fontAlgn="base"/>
            <a:r>
              <a:rPr lang="en-US" dirty="0"/>
              <a:t>Advanced Analytics &amp; Data Products​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400" dirty="0"/>
              <a:t>Turn data into forward-looking insights and user-facing tools​</a:t>
            </a:r>
          </a:p>
          <a:p>
            <a:pPr fontAlgn="base"/>
            <a:endParaRPr lang="en-US" b="1" dirty="0"/>
          </a:p>
          <a:p>
            <a:pPr fontAlgn="base"/>
            <a:r>
              <a:rPr lang="en-US" dirty="0"/>
              <a:t>Multi-Territory Platform Design​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400" dirty="0"/>
              <a:t>Architecture and operating models for international scale​</a:t>
            </a:r>
          </a:p>
          <a:p>
            <a:pPr fontAlgn="base"/>
            <a:endParaRPr lang="en-US" sz="1400" b="1" dirty="0"/>
          </a:p>
          <a:p>
            <a:pPr fontAlgn="base"/>
            <a:r>
              <a:rPr lang="en-US" dirty="0"/>
              <a:t>AI &amp; Forecasting​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400" dirty="0"/>
              <a:t>Predictive models, automation, augmented decision-making​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fontAlgn="base"/>
            <a:r>
              <a:rPr lang="en-US" dirty="0"/>
              <a:t>Strategic Review &amp; Roadmap​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400" dirty="0"/>
              <a:t>Validate what's working, define what's next​</a:t>
            </a:r>
          </a:p>
          <a:p>
            <a:pPr fontAlgn="base"/>
            <a:r>
              <a:rPr lang="en-GB" dirty="0"/>
              <a:t>​</a:t>
            </a:r>
          </a:p>
          <a:p>
            <a:pPr fontAlgn="base"/>
            <a:r>
              <a:rPr lang="en-GB" dirty="0"/>
              <a:t>​</a:t>
            </a:r>
          </a:p>
          <a:p>
            <a:pPr fontAlgn="base"/>
            <a:r>
              <a:rPr lang="en-GB" sz="1600" i="1" dirty="0"/>
              <a:t>We work with you, not around you – and we leave you stronger than we found you</a:t>
            </a:r>
            <a:r>
              <a:rPr lang="en-GB" sz="1600" dirty="0"/>
              <a:t>​</a:t>
            </a:r>
          </a:p>
          <a:p>
            <a:endParaRPr lang="en-GB" sz="2000" dirty="0"/>
          </a:p>
          <a:p>
            <a:endParaRPr lang="en-GB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CFE694-BBBF-DC35-0CAD-8BFBEEA86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53"/>
            <a:ext cx="2667000" cy="834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1F1A4A-569B-51F8-9355-84E098E67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22" y="-3655"/>
            <a:ext cx="9533978" cy="8342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206795-32D2-A2ED-F8BA-917C0698A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3723"/>
            <a:ext cx="12192000" cy="8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7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BCB26-84BB-8590-01EF-66EDF35D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F01E3A9-566D-268F-ECC9-29AF4DA2BD4D}"/>
              </a:ext>
            </a:extLst>
          </p:cNvPr>
          <p:cNvSpPr txBox="1"/>
          <p:nvPr/>
        </p:nvSpPr>
        <p:spPr>
          <a:xfrm>
            <a:off x="573993" y="1405369"/>
            <a:ext cx="11044014" cy="42319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Technology stack</a:t>
            </a:r>
            <a:r>
              <a:rPr lang="en-US" dirty="0"/>
              <a:t>​</a:t>
            </a:r>
          </a:p>
          <a:p>
            <a:endParaRPr lang="en-US" sz="2000" dirty="0"/>
          </a:p>
          <a:p>
            <a:r>
              <a:rPr lang="en-US" dirty="0"/>
              <a:t>Your stack:</a:t>
            </a:r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Snowflake (data warehouse)​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AWS (cloud infrastructure)​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dbt (transformation)​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Quicksight</a:t>
            </a:r>
            <a:r>
              <a:rPr lang="en-US" sz="1400" dirty="0"/>
              <a:t> (</a:t>
            </a:r>
            <a:r>
              <a:rPr lang="en-US" sz="1400" dirty="0" err="1"/>
              <a:t>visualisation</a:t>
            </a:r>
            <a:r>
              <a:rPr lang="en-US" sz="1400" dirty="0"/>
              <a:t>)​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Fivetran</a:t>
            </a:r>
            <a:r>
              <a:rPr lang="en-US" sz="1400" dirty="0"/>
              <a:t> (ingestion)​</a:t>
            </a:r>
          </a:p>
          <a:p>
            <a:endParaRPr lang="en-US" sz="1400" dirty="0"/>
          </a:p>
          <a:p>
            <a:r>
              <a:rPr lang="en-GB" sz="1400" b="1" dirty="0"/>
              <a:t>Strong alignment across your stack</a:t>
            </a:r>
            <a:r>
              <a:rPr lang="en-GB" sz="1400" dirty="0"/>
              <a:t> - Snowflake, AWS, </a:t>
            </a:r>
            <a:r>
              <a:rPr lang="en-GB" sz="1400" dirty="0" err="1"/>
              <a:t>dbt</a:t>
            </a:r>
            <a:r>
              <a:rPr lang="en-GB" sz="1400" dirty="0"/>
              <a:t>, plus Python, Power BI, Tableau, NLP/ML, AI automation.  For </a:t>
            </a:r>
            <a:r>
              <a:rPr lang="en-GB" sz="1400" dirty="0" err="1"/>
              <a:t>Quicksight</a:t>
            </a:r>
            <a:r>
              <a:rPr lang="en-GB" sz="1400" dirty="0"/>
              <a:t>: we'd bring in specialist resource if needed.</a:t>
            </a:r>
          </a:p>
          <a:p>
            <a:r>
              <a:rPr lang="en-US" dirty="0"/>
              <a:t>​</a:t>
            </a:r>
            <a:br>
              <a:rPr lang="en-US" dirty="0"/>
            </a:br>
            <a:r>
              <a:rPr lang="en-US" sz="1600" i="1" dirty="0"/>
              <a:t>We don't just advise, we build and deliver​</a:t>
            </a:r>
            <a:endParaRPr lang="en-GB" sz="1600" i="1" dirty="0"/>
          </a:p>
          <a:p>
            <a:endParaRPr lang="en-GB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515161-42B3-71FB-DF81-9D38442E3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53"/>
            <a:ext cx="2667000" cy="834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6F465E-B110-E565-B8CF-2CE4F8050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22" y="-3655"/>
            <a:ext cx="9533978" cy="8342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88D5121-A865-494F-F2BF-D5B9A5DF2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3723"/>
            <a:ext cx="12192000" cy="8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6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CE4A-5D8B-7164-DC95-FACD8728C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A91F797-C6CE-AADD-E3F1-A1029A0DB8C5}"/>
              </a:ext>
            </a:extLst>
          </p:cNvPr>
          <p:cNvSpPr txBox="1"/>
          <p:nvPr/>
        </p:nvSpPr>
        <p:spPr>
          <a:xfrm>
            <a:off x="573993" y="1191629"/>
            <a:ext cx="11044014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How we work</a:t>
            </a:r>
            <a:r>
              <a:rPr lang="en-US" dirty="0"/>
              <a:t>​</a:t>
            </a:r>
          </a:p>
          <a:p>
            <a:endParaRPr lang="en-US" sz="2000" dirty="0"/>
          </a:p>
          <a:p>
            <a:pPr fontAlgn="base"/>
            <a:r>
              <a:rPr lang="en-US" dirty="0"/>
              <a:t>Outcome-focused​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400" dirty="0"/>
              <a:t>Epics and stories tied to business outcomes, not just technical deliverables​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400" dirty="0"/>
          </a:p>
          <a:p>
            <a:pPr fontAlgn="base"/>
            <a:r>
              <a:rPr lang="en-US" dirty="0"/>
              <a:t>Agile cadence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400" dirty="0"/>
              <a:t>Sprints, definition of done, continuous delivery</a:t>
            </a:r>
            <a:r>
              <a:rPr lang="en-US" sz="1600" dirty="0"/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dirty="0"/>
          </a:p>
          <a:p>
            <a:pPr fontAlgn="base"/>
            <a:r>
              <a:rPr lang="en-US" dirty="0"/>
              <a:t>Embedded partnership​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400" dirty="0"/>
              <a:t>Hands-on delivery, knowledge transfer built in</a:t>
            </a:r>
            <a:r>
              <a:rPr lang="en-US" sz="1600" dirty="0"/>
              <a:t>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600" dirty="0"/>
          </a:p>
          <a:p>
            <a:pPr fontAlgn="base"/>
            <a:r>
              <a:rPr lang="en-US" dirty="0"/>
              <a:t>Multi-supplier ready​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400" dirty="0"/>
              <a:t>Experience in environments where collaboration is essential​</a:t>
            </a:r>
            <a:br>
              <a:rPr lang="en-US" sz="1400" dirty="0"/>
            </a:br>
            <a:r>
              <a:rPr lang="en-US" sz="1400" dirty="0"/>
              <a:t>We complement</a:t>
            </a:r>
            <a:r>
              <a:rPr lang="en-GB" sz="1400" dirty="0"/>
              <a:t> &amp; challenge</a:t>
            </a:r>
            <a:r>
              <a:rPr lang="en-US" sz="1400" dirty="0"/>
              <a:t>, </a:t>
            </a:r>
            <a:r>
              <a:rPr lang="en-GB" sz="1400" dirty="0"/>
              <a:t>but don't</a:t>
            </a:r>
            <a:r>
              <a:rPr lang="en-US" sz="1400" dirty="0"/>
              <a:t> compete​</a:t>
            </a:r>
          </a:p>
          <a:p>
            <a:pPr fontAlgn="base"/>
            <a:r>
              <a:rPr lang="en-GB" sz="1600" dirty="0"/>
              <a:t>​</a:t>
            </a:r>
          </a:p>
          <a:p>
            <a:pPr fontAlgn="base"/>
            <a:r>
              <a:rPr lang="en-GB" sz="1600" dirty="0"/>
              <a:t>​</a:t>
            </a:r>
          </a:p>
          <a:p>
            <a:pPr fontAlgn="base"/>
            <a:r>
              <a:rPr lang="en-GB" sz="1600" i="1" dirty="0"/>
              <a:t>From strategy to delivery, we help you build what matters faster</a:t>
            </a:r>
            <a:r>
              <a:rPr lang="en-US" sz="1600" i="1" dirty="0"/>
              <a:t>​</a:t>
            </a:r>
          </a:p>
          <a:p>
            <a:endParaRPr lang="en-GB" sz="1600" i="1" dirty="0"/>
          </a:p>
          <a:p>
            <a:endParaRPr lang="en-GB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32FCAD-B46E-17C5-229D-8FF38B7F1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53"/>
            <a:ext cx="2667000" cy="834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826016-E5AA-409A-7F16-25144B256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22" y="-3655"/>
            <a:ext cx="9533978" cy="8342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BA0769-A8F6-E244-7119-62F1D446C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3723"/>
            <a:ext cx="12192000" cy="8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26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E4674-ABB7-1EB8-4F3D-87A098A9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254AC40-8944-52E2-45A1-E8D85D2798CB}"/>
              </a:ext>
            </a:extLst>
          </p:cNvPr>
          <p:cNvSpPr txBox="1"/>
          <p:nvPr/>
        </p:nvSpPr>
        <p:spPr>
          <a:xfrm>
            <a:off x="573993" y="1260369"/>
            <a:ext cx="11044014" cy="50475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Case study - TrustMark</a:t>
            </a:r>
            <a:r>
              <a:rPr lang="en-US" dirty="0"/>
              <a:t>​</a:t>
            </a:r>
          </a:p>
          <a:p>
            <a:endParaRPr lang="en-US" sz="2000" dirty="0"/>
          </a:p>
          <a:p>
            <a:pPr fontAlgn="base"/>
            <a:r>
              <a:rPr lang="en-US" sz="1400" b="1" dirty="0"/>
              <a:t>Who</a:t>
            </a:r>
            <a:r>
              <a:rPr lang="en-US" sz="1400" dirty="0"/>
              <a:t> - Government-backed national quality scheme for home improvement sector​</a:t>
            </a:r>
          </a:p>
          <a:p>
            <a:pPr fontAlgn="base"/>
            <a:endParaRPr lang="en-US" sz="1400" dirty="0"/>
          </a:p>
          <a:p>
            <a:pPr fontAlgn="base"/>
            <a:r>
              <a:rPr lang="en-US" sz="1400" b="1" dirty="0"/>
              <a:t>Pain points </a:t>
            </a:r>
            <a:r>
              <a:rPr lang="en-US" sz="1400" dirty="0"/>
              <a:t>- Legacy BI, No Analytics, Manual Assurance processes, no predictive capability, scaling challenges​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b="1" dirty="0"/>
              <a:t>What we did- </a:t>
            </a:r>
            <a:r>
              <a:rPr lang="en-US" sz="1400" dirty="0"/>
              <a:t>Built AWS/Snowflake data platform end-to-end; automated assurance workflows; integrated AI-driven Risk Prediction Engine</a:t>
            </a:r>
            <a:r>
              <a:rPr lang="en-GB" sz="1400" dirty="0"/>
              <a:t>, and ML models natively built in Snowpark</a:t>
            </a: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b="1" dirty="0"/>
              <a:t>Outcome</a:t>
            </a:r>
            <a:r>
              <a:rPr lang="en-US" sz="1400" dirty="0"/>
              <a:t> - Real-time insights, reduced manual effort, predictive risk identification</a:t>
            </a:r>
            <a:r>
              <a:rPr lang="en-GB" sz="1400" dirty="0"/>
              <a:t>, automated scaling of assurance workflows, Identification of fraud</a:t>
            </a: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b="1" dirty="0"/>
              <a:t>Relevance to BA </a:t>
            </a:r>
            <a:r>
              <a:rPr lang="en-US" sz="1400" dirty="0"/>
              <a:t>- Platform build, Snowflake, AI integration, ongoing support​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b="1" dirty="0"/>
              <a:t>Tech - </a:t>
            </a:r>
            <a:r>
              <a:rPr lang="en-US" sz="1400" dirty="0"/>
              <a:t>Snowflake, dbt, AWS, Python</a:t>
            </a:r>
            <a:r>
              <a:rPr lang="en-GB" sz="1400" dirty="0"/>
              <a:t>, Power BI</a:t>
            </a:r>
            <a:r>
              <a:rPr lang="en-US" sz="1400" dirty="0"/>
              <a:t>​</a:t>
            </a:r>
          </a:p>
          <a:p>
            <a:pPr fontAlgn="base"/>
            <a:endParaRPr lang="en-US" sz="1400" dirty="0"/>
          </a:p>
          <a:p>
            <a:pPr fontAlgn="base"/>
            <a:r>
              <a:rPr lang="en-GB" sz="1400" i="1" dirty="0"/>
              <a:t>"Crozier Scott didn’t just give us better data, they transformed how we operate.  What was once a slow, manual auditing process is now automated and insight-driven.  Their Risk Prediction Engine helps us spot issues before they escalate.  We’re not just more efficient, we’re smarter, faster, and more effective.“  </a:t>
            </a:r>
            <a:r>
              <a:rPr lang="en-GB" sz="1400" dirty="0"/>
              <a:t>Phil Vaughan, CTO</a:t>
            </a:r>
            <a:endParaRPr lang="en-US" sz="1400" dirty="0"/>
          </a:p>
          <a:p>
            <a:endParaRPr lang="en-GB" sz="2000" dirty="0"/>
          </a:p>
          <a:p>
            <a:endParaRPr lang="en-GB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09233D-809F-6D31-C5B0-197523A8C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53"/>
            <a:ext cx="2667000" cy="834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31088E-76DE-DEFC-D7E5-D34B55A18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22" y="-3655"/>
            <a:ext cx="9533978" cy="8342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41E022-6492-C440-7C87-CA273E495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3723"/>
            <a:ext cx="12192000" cy="8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9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6B976-4C6C-8A34-D378-51364E6B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53419C8-FE08-6F91-E1A3-CDF3A526D87E}"/>
              </a:ext>
            </a:extLst>
          </p:cNvPr>
          <p:cNvSpPr txBox="1"/>
          <p:nvPr/>
        </p:nvSpPr>
        <p:spPr>
          <a:xfrm>
            <a:off x="573993" y="1283962"/>
            <a:ext cx="11044014" cy="47397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Case study - Impower</a:t>
            </a:r>
            <a:r>
              <a:rPr lang="en-US" dirty="0"/>
              <a:t>​</a:t>
            </a:r>
          </a:p>
          <a:p>
            <a:endParaRPr lang="en-US" sz="2000" dirty="0"/>
          </a:p>
          <a:p>
            <a:pPr fontAlgn="base"/>
            <a:r>
              <a:rPr lang="en-GB" sz="1400" b="1" dirty="0"/>
              <a:t>Who</a:t>
            </a:r>
            <a:r>
              <a:rPr lang="en-GB" sz="1400" dirty="0"/>
              <a:t> - Management consultancy specialising in local government transformation</a:t>
            </a:r>
            <a:r>
              <a:rPr lang="en-US" sz="1400" dirty="0"/>
              <a:t>​</a:t>
            </a:r>
          </a:p>
          <a:p>
            <a:pPr fontAlgn="base"/>
            <a:endParaRPr lang="en-US" sz="1400" dirty="0"/>
          </a:p>
          <a:p>
            <a:pPr fontAlgn="base"/>
            <a:r>
              <a:rPr lang="en-GB" sz="1400" b="1" dirty="0"/>
              <a:t>Pain</a:t>
            </a:r>
            <a:r>
              <a:rPr lang="en-GB" sz="1400" dirty="0"/>
              <a:t> - Needed benchmarking data product, lacked platform to aggregate multi-source data at scale</a:t>
            </a:r>
            <a:r>
              <a:rPr lang="en-US" sz="1400" dirty="0"/>
              <a:t>​</a:t>
            </a:r>
          </a:p>
          <a:p>
            <a:pPr fontAlgn="base"/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b="1" dirty="0"/>
              <a:t>What we did </a:t>
            </a:r>
            <a:r>
              <a:rPr lang="en-US" sz="1400" dirty="0"/>
              <a:t>– Built an NLP-based customer listening tool used in analysis of citizen feedback and social worker case notes;  Built Data Analytics platform and 'Indexes' benchmarking product (Complex aggregation of public and API-sourced data into a metric store​)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b="1" dirty="0"/>
              <a:t>Outcome</a:t>
            </a:r>
            <a:r>
              <a:rPr lang="en-US" sz="1400" dirty="0"/>
              <a:t> - Analysts access insights through Snowflake and Power BI; </a:t>
            </a:r>
            <a:r>
              <a:rPr lang="en-US" sz="1400" dirty="0" err="1"/>
              <a:t>productised</a:t>
            </a:r>
            <a:r>
              <a:rPr lang="en-US" sz="1400" dirty="0"/>
              <a:t> data offering</a:t>
            </a:r>
            <a:r>
              <a:rPr lang="en-GB" sz="1400" dirty="0"/>
              <a:t> that drives customer acquisition</a:t>
            </a: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b="1" dirty="0"/>
              <a:t>Relevance to BA </a:t>
            </a:r>
            <a:r>
              <a:rPr lang="en-US" sz="1400" dirty="0"/>
              <a:t>- Multi-source data integration, data products, analyst-facing tools​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b="1" dirty="0"/>
              <a:t>Tech</a:t>
            </a:r>
            <a:r>
              <a:rPr lang="en-US" sz="1400" dirty="0"/>
              <a:t> - Snowflake, Power BI, Python, APIs​</a:t>
            </a:r>
          </a:p>
          <a:p>
            <a:pPr fontAlgn="base"/>
            <a:endParaRPr lang="en-US" sz="1400" dirty="0"/>
          </a:p>
          <a:p>
            <a:pPr fontAlgn="base"/>
            <a:r>
              <a:rPr lang="en-GB" sz="1400" i="1" dirty="0"/>
              <a:t>"We came to Crozier Scott needing a way to better understand resident sentiment. What we got was a strategic listening platform that reshaped how we advise councils. Their NLP-based solution gave us real-time insight and cut out our reliance on disjointed tools. It’s now core to how we deliver impact.”  Paul Henry, CIO</a:t>
            </a:r>
            <a:endParaRPr lang="en-US" sz="1400" dirty="0"/>
          </a:p>
          <a:p>
            <a:endParaRPr lang="en-GB" sz="2000" dirty="0"/>
          </a:p>
          <a:p>
            <a:endParaRPr lang="en-GB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5F95C1-F62C-B9BF-A3FF-5BEEC2D0F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53"/>
            <a:ext cx="2667000" cy="834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CF15AE-D82F-F3AA-12A7-08DD03BFB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22" y="-3655"/>
            <a:ext cx="9533978" cy="8342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2102C8-EBED-2438-4E7E-63F915FBE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3723"/>
            <a:ext cx="12192000" cy="8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01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0180-7386-EB4D-19DC-D26B61AF9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E57C2C3-E948-5D13-DAE8-0FC326D4ACC4}"/>
              </a:ext>
            </a:extLst>
          </p:cNvPr>
          <p:cNvSpPr txBox="1"/>
          <p:nvPr/>
        </p:nvSpPr>
        <p:spPr>
          <a:xfrm>
            <a:off x="573993" y="1213008"/>
            <a:ext cx="11044014" cy="46474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 dirty="0"/>
              <a:t>Case study - Abbott World Marathon Majors</a:t>
            </a:r>
          </a:p>
          <a:p>
            <a:endParaRPr lang="en-GB" sz="2000" b="1" dirty="0"/>
          </a:p>
          <a:p>
            <a:pPr fontAlgn="base"/>
            <a:r>
              <a:rPr lang="en-GB" sz="1400" b="1" dirty="0"/>
              <a:t>Who - </a:t>
            </a:r>
            <a:r>
              <a:rPr lang="en-GB" sz="1400" dirty="0"/>
              <a:t>Global organisation uniting seven major marathons (Tokyo, Boston, London, Sydney, Berlin, Chicago, New York)</a:t>
            </a:r>
            <a:r>
              <a:rPr lang="en-US" sz="1400" dirty="0"/>
              <a:t>​, and aggregating results for 400 marathons to create global rankings</a:t>
            </a:r>
          </a:p>
          <a:p>
            <a:pPr fontAlgn="base"/>
            <a:endParaRPr lang="en-US" sz="1400" dirty="0"/>
          </a:p>
          <a:p>
            <a:pPr fontAlgn="base"/>
            <a:r>
              <a:rPr lang="en-GB" sz="1400" b="1" dirty="0"/>
              <a:t>Pain points - </a:t>
            </a:r>
            <a:r>
              <a:rPr lang="en-GB" sz="1400" dirty="0"/>
              <a:t>Failure with incumbent supplier, no CRM or actionable audience data in marketing activity, no monetisation of runner audience​</a:t>
            </a:r>
            <a:br>
              <a:rPr lang="en-GB" sz="1400" dirty="0"/>
            </a:br>
            <a:r>
              <a:rPr lang="en-GB" sz="1400" dirty="0"/>
              <a:t>​</a:t>
            </a:r>
          </a:p>
          <a:p>
            <a:pPr fontAlgn="base"/>
            <a:r>
              <a:rPr lang="en-US" sz="1400" b="1" dirty="0"/>
              <a:t>What we did </a:t>
            </a:r>
            <a:r>
              <a:rPr lang="en-US" sz="1400" dirty="0"/>
              <a:t>- Full lifecycle </a:t>
            </a:r>
            <a:r>
              <a:rPr lang="en-GB" sz="1400" dirty="0"/>
              <a:t>- </a:t>
            </a:r>
            <a:r>
              <a:rPr lang="en-US" sz="1400" dirty="0"/>
              <a:t>ingestion, modelling, analytics, CRM automation, digital products​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b="1" dirty="0"/>
              <a:t>Outcome</a:t>
            </a:r>
            <a:r>
              <a:rPr lang="en-US" sz="1400" dirty="0"/>
              <a:t> - Unified data view, data-driven decision making, new commercial </a:t>
            </a:r>
            <a:r>
              <a:rPr lang="en-GB" sz="1400" dirty="0"/>
              <a:t>propositions for runner audience &amp; sponsors, helped them to double their revenue</a:t>
            </a: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b="1" dirty="0"/>
              <a:t>Relevance to BA </a:t>
            </a:r>
            <a:r>
              <a:rPr lang="en-US" sz="1400" dirty="0"/>
              <a:t>- Scaling a data platform, multi-market complexity, data </a:t>
            </a:r>
            <a:r>
              <a:rPr lang="en-US" sz="1400" dirty="0" err="1"/>
              <a:t>monetisation</a:t>
            </a: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sz="1400" b="1" dirty="0"/>
              <a:t>Tech</a:t>
            </a:r>
            <a:r>
              <a:rPr lang="en-US" sz="1400" dirty="0"/>
              <a:t> - CRM, data platform, custom development</a:t>
            </a:r>
          </a:p>
          <a:p>
            <a:pPr fontAlgn="base"/>
            <a:endParaRPr lang="en-US" sz="1400" dirty="0"/>
          </a:p>
          <a:p>
            <a:pPr fontAlgn="base"/>
            <a:r>
              <a:rPr lang="en-GB" sz="1400" dirty="0"/>
              <a:t>"</a:t>
            </a:r>
            <a:r>
              <a:rPr lang="en-GB" sz="1400" i="1" dirty="0"/>
              <a:t>Crozier Scott brought a level of strategic clarity we hadn’t seen before. They didn’t just fix our CRM - they helped us reimagine how we connect with runners globally. From the Age Group Rankings to our 6 Star Journey, everything is now underpinned by solid data and scalable platforms.</a:t>
            </a:r>
            <a:r>
              <a:rPr lang="en-GB" sz="1400" dirty="0"/>
              <a:t>“  Danny Coyle, COO</a:t>
            </a:r>
            <a:endParaRPr lang="en-US" sz="1400" dirty="0"/>
          </a:p>
          <a:p>
            <a:endParaRPr lang="en-GB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63DB5C-2CA6-03AA-8F8F-3B1D79A4E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53"/>
            <a:ext cx="2667000" cy="834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A2BDB0-4A50-645E-47AB-E18AA4035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22" y="-3655"/>
            <a:ext cx="9533978" cy="8342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40A104-F1D6-3D7E-446F-C3FE8A645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3723"/>
            <a:ext cx="12192000" cy="8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7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AE87-41A8-0C32-8E6A-D0EE7F8BC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65F90AF-4DCD-B199-23EE-AB64C5FABDE9}"/>
              </a:ext>
            </a:extLst>
          </p:cNvPr>
          <p:cNvSpPr txBox="1"/>
          <p:nvPr/>
        </p:nvSpPr>
        <p:spPr>
          <a:xfrm>
            <a:off x="573993" y="1228397"/>
            <a:ext cx="11044014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 dirty="0"/>
              <a:t>Where we see potential value</a:t>
            </a:r>
            <a:r>
              <a:rPr lang="en-GB" dirty="0"/>
              <a:t>​</a:t>
            </a:r>
          </a:p>
          <a:p>
            <a:pPr fontAlgn="base"/>
            <a:r>
              <a:rPr lang="en-US" sz="1400" dirty="0"/>
              <a:t>​</a:t>
            </a:r>
            <a:br>
              <a:rPr lang="en-US" sz="1400" dirty="0"/>
            </a:br>
            <a:r>
              <a:rPr lang="en-US" dirty="0"/>
              <a:t>European Dashboard (multi-market)​</a:t>
            </a:r>
            <a:br>
              <a:rPr lang="en-US" dirty="0"/>
            </a:br>
            <a:r>
              <a:rPr lang="en-US" sz="1400" dirty="0"/>
              <a:t>	→ Multi-territory architecture, cross-market analytics design​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dirty="0"/>
              <a:t>AI adoption (analyst augmentation)​</a:t>
            </a:r>
            <a:br>
              <a:rPr lang="en-US" sz="1400" dirty="0"/>
            </a:br>
            <a:r>
              <a:rPr lang="en-US" sz="1400" dirty="0"/>
              <a:t>	→ Predictive models, automated insights, recommendation engines​</a:t>
            </a:r>
            <a:br>
              <a:rPr lang="en-US" sz="1400" dirty="0"/>
            </a:br>
            <a:r>
              <a:rPr lang="en-US" sz="1400" dirty="0"/>
              <a:t>​</a:t>
            </a:r>
            <a:br>
              <a:rPr lang="en-US" sz="1400" dirty="0"/>
            </a:br>
            <a:r>
              <a:rPr lang="en-US" dirty="0"/>
              <a:t>Building internal capability​</a:t>
            </a:r>
            <a:br>
              <a:rPr lang="en-US" dirty="0"/>
            </a:br>
            <a:r>
              <a:rPr lang="en-US" sz="1400" dirty="0"/>
              <a:t>	→ Knowledge transfer, embedded delivery, clear documentation​</a:t>
            </a:r>
          </a:p>
          <a:p>
            <a:pPr fontAlgn="base"/>
            <a:r>
              <a:rPr lang="en-US" sz="1400" dirty="0"/>
              <a:t>​</a:t>
            </a:r>
          </a:p>
          <a:p>
            <a:pPr fontAlgn="base"/>
            <a:r>
              <a:rPr lang="en-US" dirty="0"/>
              <a:t>AWS Platform Management</a:t>
            </a:r>
            <a:r>
              <a:rPr lang="en-US" sz="1400" dirty="0"/>
              <a:t>​</a:t>
            </a:r>
          </a:p>
          <a:p>
            <a:pPr fontAlgn="base"/>
            <a:r>
              <a:rPr lang="en-US" sz="1400" dirty="0"/>
              <a:t>	→ AWS Solution architect services, Well architected review, </a:t>
            </a:r>
            <a:r>
              <a:rPr lang="en-US" sz="1400" dirty="0" err="1"/>
              <a:t>IaC</a:t>
            </a:r>
            <a:r>
              <a:rPr lang="en-US" sz="1400" dirty="0"/>
              <a:t> approach with Terraform​</a:t>
            </a:r>
          </a:p>
          <a:p>
            <a:pPr fontAlgn="base"/>
            <a:r>
              <a:rPr lang="en-US" sz="1400" dirty="0"/>
              <a:t>​</a:t>
            </a:r>
            <a:br>
              <a:rPr lang="en-US" sz="1400" dirty="0"/>
            </a:br>
            <a:endParaRPr lang="en-US" sz="1400" dirty="0"/>
          </a:p>
          <a:p>
            <a:pPr fontAlgn="base"/>
            <a:r>
              <a:rPr lang="en-US" i="1" dirty="0"/>
              <a:t>We're ready to pitch for specific work packages when you're ready to share </a:t>
            </a:r>
            <a:r>
              <a:rPr lang="en-US" i="1"/>
              <a:t>more details​</a:t>
            </a:r>
            <a:endParaRPr lang="en-US" i="1" dirty="0"/>
          </a:p>
          <a:p>
            <a:endParaRPr lang="en-GB" sz="2000" dirty="0"/>
          </a:p>
          <a:p>
            <a:endParaRPr lang="en-GB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18D557-2BE6-D978-D43E-BCE884B0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53"/>
            <a:ext cx="2667000" cy="834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5193D1-EB5C-9C7B-1D38-C5C3B1416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022" y="-3655"/>
            <a:ext cx="9533978" cy="8342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1C2086-189B-6679-A7EA-F79B56D0B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23723"/>
            <a:ext cx="12192000" cy="8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95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</TotalTime>
  <Words>1059</Words>
  <Application>Microsoft Macintosh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Company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Crozier Scott Company Overview</dc:title>
  <dc:subject/>
  <dc:creator>Scott Scott</dc:creator>
  <cp:keywords/>
  <dc:description/>
  <cp:lastModifiedBy>Scott Scott</cp:lastModifiedBy>
  <cp:revision>6</cp:revision>
  <dcterms:created xsi:type="dcterms:W3CDTF">2025-11-24T13:18:44Z</dcterms:created>
  <dcterms:modified xsi:type="dcterms:W3CDTF">2026-02-06T11:13:27Z</dcterms:modified>
  <cp:category/>
</cp:coreProperties>
</file>